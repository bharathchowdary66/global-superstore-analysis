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Strategic Performance Review &amp; Growth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Global Superstore – Strategic Analysis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Strong global sales growth led by Technology.</a:t>
            </a:r>
          </a:p>
          <a:p>
            <a:r>
              <a:t>• Logistics costs in key regions require optimization.</a:t>
            </a:r>
          </a:p>
          <a:p>
            <a:r>
              <a:t>• 165 countries served with a diversified product mix.</a:t>
            </a:r>
          </a:p>
          <a:p>
            <a:r>
              <a:t>• Total Revenue: $12.64M | Total Profit: $1.47M | 8.5% Margin.</a:t>
            </a:r>
          </a:p>
          <a:p>
            <a:r>
              <a:t>• Total Orders: 51,290 | Avg Order Value: $246.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PERFORMANCE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APAC contributes 28% of global sales (China, India dominating).</a:t>
            </a:r>
          </a:p>
          <a:p>
            <a:r>
              <a:t>• EU remains stable but shows slower growth QoQ.</a:t>
            </a:r>
          </a:p>
          <a:p>
            <a:r>
              <a:t>• US and LATAM show moderate expansion.</a:t>
            </a:r>
          </a:p>
          <a:p>
            <a:r>
              <a:t>• Opportunity: Explore African/EMEA markets for growth.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CATEGORY SALES &amp; PROFIT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Technology leads both revenue and profit.</a:t>
            </a:r>
          </a:p>
          <a:p>
            <a:r>
              <a:t>• Furniture generates revenue but low profit due to high shipping.</a:t>
            </a:r>
          </a:p>
          <a:p>
            <a:r>
              <a:t>• Office Supplies deliver balanced revenue and margin.</a:t>
            </a:r>
          </a:p>
          <a:p>
            <a:r>
              <a:t>Recommendation: Reassess pricing and shipping for Furniture.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SUB-CATEGORY PROFITABILITY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3 profitable sub-categories:</a:t>
            </a:r>
          </a:p>
          <a:p>
            <a:r>
              <a:t>• Copiers</a:t>
            </a:r>
          </a:p>
          <a:p>
            <a:r>
              <a:t>• Phones</a:t>
            </a:r>
          </a:p>
          <a:p>
            <a:r>
              <a:t>• Bookcases</a:t>
            </a:r>
          </a:p>
          <a:p/>
          <a:p>
            <a:r>
              <a:t>Bottom 3 loss-making sub-categories:</a:t>
            </a:r>
          </a:p>
          <a:p>
            <a:r>
              <a:t>• Supplies</a:t>
            </a:r>
          </a:p>
          <a:p>
            <a:r>
              <a:t>• Tables (largest losses)</a:t>
            </a:r>
          </a:p>
          <a:p>
            <a:r>
              <a:t>• Chairs</a:t>
            </a:r>
          </a:p>
          <a:p/>
          <a:p>
            <a:r>
              <a:t>Action: Adjust pricing/discount strategy.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Consumer segment: 51% of total sales with strong margins.</a:t>
            </a:r>
          </a:p>
          <a:p>
            <a:r>
              <a:t>• Corporate/B2B offers expansion through bulk contracts.</a:t>
            </a:r>
          </a:p>
          <a:p>
            <a:r>
              <a:t>• Home Office forms the smallest proportion.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SEASONAL SALES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Q4 peak due to holiday and year-end corporate spending.</a:t>
            </a:r>
          </a:p>
          <a:p>
            <a:r>
              <a:t>• February consistently shows lowest performance.</a:t>
            </a:r>
          </a:p>
          <a:p>
            <a:r>
              <a:t>Recommendation: Launch targeted Q1 marketing campaigns.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LOGISTICS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Standard Class shipping accounts for 60% of total logistics cost.</a:t>
            </a:r>
          </a:p>
          <a:p>
            <a:r>
              <a:t>• High shipping costs reduce margins, especially for Furniture.</a:t>
            </a:r>
          </a:p>
          <a:p>
            <a:r>
              <a:t>• Need for regional warehousing to reduce long-haul shipping cost.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PROFITABILITY RISK ZONES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Root Causes of Losses:</a:t>
            </a:r>
          </a:p>
          <a:p>
            <a:r>
              <a:t>1. Excessive discounting (up to 50%).</a:t>
            </a:r>
          </a:p>
          <a:p>
            <a:r>
              <a:t>2. High shipping cost vs low order value.</a:t>
            </a:r>
          </a:p>
          <a:p/>
          <a:p>
            <a:r>
              <a:t>Action Required:</a:t>
            </a:r>
          </a:p>
          <a:p>
            <a:r>
              <a:t>• Discount cap at ≤30%.</a:t>
            </a:r>
          </a:p>
          <a:p>
            <a:r>
              <a:t>• Review high-cost regions for corrective pricing.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Product Mix Optimization:</a:t>
            </a:r>
          </a:p>
          <a:p>
            <a:r>
              <a:t>• Promote Technology products (Copiers, Phones) to boost profit.</a:t>
            </a:r>
          </a:p>
          <a:p/>
          <a:p>
            <a:r>
              <a:t>2. Logistics Optimization:</a:t>
            </a:r>
          </a:p>
          <a:p>
            <a:r>
              <a:t>• Renegotiate shipping.</a:t>
            </a:r>
          </a:p>
          <a:p>
            <a:r>
              <a:t>• Implement regional warehouses.</a:t>
            </a:r>
          </a:p>
          <a:p>
            <a:r>
              <a:t>Projected Impact: +2.5% margin improvement.</a:t>
            </a:r>
          </a:p>
          <a:p/>
          <a:p>
            <a:r>
              <a:t>3. Market Loss Prevention:</a:t>
            </a:r>
          </a:p>
          <a:p>
            <a:r>
              <a:t>• Review Turkey, Nigeria.</a:t>
            </a:r>
          </a:p>
          <a:p>
            <a:r>
              <a:t>• Adjust pricing or exit unprofitable regions.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